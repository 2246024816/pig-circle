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生猪均价（元/公斤）</c:v>
                </c:pt>
              </c:strCache>
            </c:strRef>
          </c:tx>
          <c:spPr>
            <a:solidFill>
              <a:srgbClr val="990F3D"/>
            </a:solidFill>
            <a:ln w="31750" cap="flat">
              <a:solidFill>
                <a:srgbClr val="990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90F3D"/>
              </a:solidFill>
              <a:ln w="9525" cap="flat">
                <a:solidFill>
                  <a:srgbClr val="990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17.2</c:v>
                </c:pt>
                <c:pt idx="1">
                  <c:v>15</c:v>
                </c:pt>
                <c:pt idx="2">
                  <c:v>11.4</c:v>
                </c:pt>
                <c:pt idx="3">
                  <c:v>24.1</c:v>
                </c:pt>
                <c:pt idx="4">
                  <c:v>35.2</c:v>
                </c:pt>
                <c:pt idx="5">
                  <c:v>18.6</c:v>
                </c:pt>
                <c:pt idx="6">
                  <c:v>20.1</c:v>
                </c:pt>
                <c:pt idx="7">
                  <c:v>15.8</c:v>
                </c:pt>
                <c:pt idx="8">
                  <c:v>17.2</c:v>
                </c:pt>
                <c:pt idx="9">
                  <c:v>14.5</c:v>
                </c:pt>
                <c:pt idx="10">
                  <c:v>10.8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1E5"/>
        </a:solidFill>
        <a:ln w="12700" cap="flat">
          <a:solidFill>
            <a:srgbClr val="FFF1E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PSY（头/年）</c:v>
                </c:pt>
              </c:strCache>
            </c:strRef>
          </c:tx>
          <c:spPr>
            <a:solidFill>
              <a:srgbClr val="0F54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2019</c:v>
                  </c:pt>
                  <c:pt idx="2">
                    <c:v>2021</c:v>
                  </c:pt>
                  <c:pt idx="3">
                    <c:v>2023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17.38</c:v>
                </c:pt>
                <c:pt idx="1">
                  <c:v>19.2</c:v>
                </c:pt>
                <c:pt idx="2">
                  <c:v>21.5</c:v>
                </c:pt>
                <c:pt idx="3">
                  <c:v>23.1</c:v>
                </c:pt>
                <c:pt idx="4">
                  <c:v>24.34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1E5"/>
        </a:solidFill>
        <a:ln w="12700" cap="flat">
          <a:solidFill>
            <a:srgbClr val="FFF1E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猪肉占肉类消费比重（%）</c:v>
                </c:pt>
              </c:strCache>
            </c:strRef>
          </c:tx>
          <c:spPr>
            <a:solidFill>
              <a:srgbClr val="990F3D"/>
            </a:solidFill>
            <a:ln w="31750" cap="flat">
              <a:solidFill>
                <a:srgbClr val="990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90F3D"/>
              </a:solidFill>
              <a:ln w="9525" cap="flat">
                <a:solidFill>
                  <a:srgbClr val="990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62.1</c:v>
                </c:pt>
                <c:pt idx="1">
                  <c:v>60.5</c:v>
                </c:pt>
                <c:pt idx="2">
                  <c:v>55.8</c:v>
                </c:pt>
                <c:pt idx="3">
                  <c:v>58.2</c:v>
                </c:pt>
                <c:pt idx="4">
                  <c:v>59.1</c:v>
                </c:pt>
                <c:pt idx="5">
                  <c:v>58.5</c:v>
                </c:pt>
                <c:pt idx="6">
                  <c:v>58.1</c:v>
                </c:pt>
                <c:pt idx="7">
                  <c:v>57.9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5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5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1E5"/>
        </a:solidFill>
        <a:ln w="12700" cap="flat">
          <a:solidFill>
            <a:srgbClr val="FFF1E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743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研究报告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猪肉价格的秘密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一头猪如何影响你的生活与整个经济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286000" cy="36576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260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猪肉价格为何总是大涨大跌？这是垄断、炒作，还是另有隐情？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本研究从第一性原理出发，追溯中国猪周期的底层逻辑与当前位置。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80060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数据来源：农业农村部 · 国家统计局 · 学术文献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743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2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576" cy="4572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98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流行叙事与它的局限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炒作？垄断？还是另有隐情？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22960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09928"/>
            <a:ext cx="36576" cy="4572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2821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第一性原理：生物时钟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14-18个月的不可压缩滞后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822960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368296"/>
            <a:ext cx="36576" cy="45720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865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682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历史复盘：六轮周期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15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每轮都有外生冲击，但规律从未改变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822960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026664"/>
            <a:ext cx="36576" cy="45720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449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026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此轮新特征：历史规律失效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735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集中度革命 · PSY提升 · 需求天花板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57016"/>
            <a:ext cx="822960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685032"/>
            <a:ext cx="36576" cy="4572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03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685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美国镜鉴：规模化后会发生什么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319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周期拉长至7-11年的全球经验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822960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343400"/>
            <a:ext cx="36576" cy="45720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3616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当前位置与判断框架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5902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我们现在在哪里？信号是什么？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先看一个事实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近10年，猪肉价格经历了什么？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6304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600200"/>
            <a:ext cx="2743200" cy="68580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6367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2018年5月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35040" y="18196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10元/公斤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周期低谷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286000"/>
            <a:ext cx="2743200" cy="68580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2019-2020年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35040" y="2505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35元/公斤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非瘟超级周期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474720"/>
            <a:ext cx="2743200" cy="68580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5112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0" y="36941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9.5元/公斤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8年来最低点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来源：农业农村部、东方财富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9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00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流行叙事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与它的局限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CC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炒作？垄断？政策失误？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CC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——这些解释都对，但都不够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A003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流行叙事与它的局限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三种常见解释，为何都不够？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97480" cy="315468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697480" cy="54864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是资本炒作？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期货市场和中间商确实存在短期价格操纵，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但价格的周期性波动早在期货市场出现之前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就已存在，且全球各国普遍发生。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2423160" cy="18288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可解释短期波动，无法解释4年一轮的规律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315468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697480" cy="54864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36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是垄断定价？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牧原等龙头企业确实市占率高，但即使是市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占率11%的牧原，也无法单独控制一个全年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出栏7.2亿头的庞大市场。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337560"/>
            <a:ext cx="2423160" cy="18288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行业集中但尚未集中到定价权，解释力有限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15468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2697480" cy="54864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536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是政策失误？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政府补贴和调控确实会扰动产能恢复节奏，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但美国、欧洲的养猪业同样存在猪周期，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且彼此政策体系完全不同。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337560"/>
            <a:ext cx="2423160" cy="18288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4015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政策是扰动变量，不是周期存在的根本原因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真正的答案，藏在生物学里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54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3D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第一性原理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生物时钟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A8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今天的猪价，是18个月前决策的结果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A3D7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第一性原理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一头猪从出生到餐桌，需要多久？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养殖户判断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猪价上涨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90472" y="1801368"/>
            <a:ext cx="777240" cy="54864"/>
          </a:xfrm>
          <a:prstGeom prst="rect">
            <a:avLst/>
          </a:prstGeom>
          <a:solidFill>
            <a:srgbClr val="D0C4B8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764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731520" cy="73152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培育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后备母猪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选留后备猪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至性成熟配种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73552" y="1801368"/>
            <a:ext cx="777240" cy="54864"/>
          </a:xfrm>
          <a:prstGeom prst="rect">
            <a:avLst/>
          </a:prstGeom>
          <a:solidFill>
            <a:srgbClr val="D0C4B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764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0F5499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1188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4个月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妊娠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母猪怀孕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生产仔猪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56632" y="1801368"/>
            <a:ext cx="777240" cy="54864"/>
          </a:xfrm>
          <a:prstGeom prst="rect">
            <a:avLst/>
          </a:prstGeom>
          <a:solidFill>
            <a:srgbClr val="D0C4B8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764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6908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0F5499"/>
          </a:solidFill>
          <a:ln/>
        </p:spPr>
      </p:sp>
      <p:sp>
        <p:nvSpPr>
          <p:cNvPr id="24" name="Text 22"/>
          <p:cNvSpPr/>
          <p:nvPr/>
        </p:nvSpPr>
        <p:spPr>
          <a:xfrm>
            <a:off x="4069080" y="1188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4个月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731520" cy="73152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育肥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仔猪增重至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110-120公斤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39712" y="1801368"/>
            <a:ext cx="777240" cy="54864"/>
          </a:xfrm>
          <a:prstGeom prst="rect">
            <a:avLst/>
          </a:prstGeom>
          <a:solidFill>
            <a:srgbClr val="D0C4B8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764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216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0F5499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1188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6个月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1463040"/>
            <a:ext cx="731520" cy="731520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供给变化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价格才开始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真正反应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0D7680"/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1188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14-18 个月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3429000"/>
            <a:ext cx="8503920" cy="1005840"/>
          </a:xfrm>
          <a:prstGeom prst="rect">
            <a:avLst/>
          </a:prstGeom>
          <a:solidFill>
            <a:srgbClr val="F0E8E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7307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这是一条物理约束，不是信息不透明，不是市场失灵。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今天市场上的猪肉供应，是14-18个月前养殖户决策的结果——这一时间差无法压缩，这就是猪周期存在的根本原因。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第一性原理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价格信号怎样驱动整个周期转动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096512" y="1024128"/>
            <a:ext cx="950976" cy="694944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7" name="Text 5"/>
          <p:cNvSpPr/>
          <p:nvPr/>
        </p:nvSpPr>
        <p:spPr>
          <a:xfrm>
            <a:off x="4096512" y="102412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猪价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23947" y="1732788"/>
            <a:ext cx="950976" cy="694944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9" name="Text 7"/>
          <p:cNvSpPr/>
          <p:nvPr/>
        </p:nvSpPr>
        <p:spPr>
          <a:xfrm>
            <a:off x="5323947" y="173278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补栏扩产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23947" y="3150108"/>
            <a:ext cx="950976" cy="694944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1" name="Text 9"/>
          <p:cNvSpPr/>
          <p:nvPr/>
        </p:nvSpPr>
        <p:spPr>
          <a:xfrm>
            <a:off x="5323947" y="315010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存栏攀升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96512" y="3858768"/>
            <a:ext cx="950976" cy="694944"/>
          </a:xfrm>
          <a:prstGeom prst="ellipse">
            <a:avLst/>
          </a:prstGeom>
          <a:solidFill>
            <a:srgbClr val="33302E"/>
          </a:solidFill>
          <a:ln/>
        </p:spPr>
      </p:sp>
      <p:sp>
        <p:nvSpPr>
          <p:cNvPr id="13" name="Text 11"/>
          <p:cNvSpPr/>
          <p:nvPr/>
        </p:nvSpPr>
        <p:spPr>
          <a:xfrm>
            <a:off x="4096512" y="385876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出栏量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大幅增加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69077" y="3150108"/>
            <a:ext cx="950976" cy="694944"/>
          </a:xfrm>
          <a:prstGeom prst="ellipse">
            <a:avLst/>
          </a:prstGeom>
          <a:solidFill>
            <a:srgbClr val="33302E"/>
          </a:solidFill>
          <a:ln/>
        </p:spPr>
      </p:sp>
      <p:sp>
        <p:nvSpPr>
          <p:cNvPr id="15" name="Text 13"/>
          <p:cNvSpPr/>
          <p:nvPr/>
        </p:nvSpPr>
        <p:spPr>
          <a:xfrm>
            <a:off x="2869077" y="315010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供给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69077" y="1732788"/>
            <a:ext cx="950976" cy="694944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7" name="Text 15"/>
          <p:cNvSpPr/>
          <p:nvPr/>
        </p:nvSpPr>
        <p:spPr>
          <a:xfrm>
            <a:off x="2869077" y="1732788"/>
            <a:ext cx="9509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猪价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77640" y="2377440"/>
            <a:ext cx="1188720" cy="822960"/>
          </a:xfrm>
          <a:prstGeom prst="ellipse">
            <a:avLst/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377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猪周期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 rot="1800000">
            <a:off x="5143500" y="1451757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 rot="5400000">
            <a:off x="5852160" y="26791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 rot="9000000">
            <a:off x="5143500" y="3906627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 rot="12600000">
            <a:off x="3726180" y="3906627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 rot="16200000">
            <a:off x="3017520" y="26791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9800000">
            <a:off x="3726180" y="1451757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417320"/>
            <a:ext cx="1508760" cy="30175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5087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先行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2286000"/>
            <a:ext cx="1234440" cy="22860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377440"/>
            <a:ext cx="1417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存栏量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领先出栏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约10个月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第一性原理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追踪猪周期：三层指标体系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35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6367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先行指标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856232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990F3D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562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领先市场约 10 个月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435608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490472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能繁母猪存栏量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746504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最核心锚点。持续3个月以上环比下降，才是真正去产能的信号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29968" y="2176272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来源：农业农村部 月度发布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532120" y="1435608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1490472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二元母猪价格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41848" y="1746504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母猪大跌 = 养殖户连"生小猪的猪"都不留了，极度悲观信号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41848" y="2176272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来源：涌益咨询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87752"/>
            <a:ext cx="54864" cy="100584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2606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280720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同步指标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" y="3026664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0F549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266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反映当下供应压力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20240" y="2606040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2660904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生猪出栏均重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29968" y="2916936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超过120公斤说明在压栏惜售，供应压力只是后移而非消失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29968" y="3346704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来源：涌益咨询 周度数据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32120" y="2606040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2660904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新生仔猪数量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41848" y="2916936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领先出栏约6个月，同比转负是重要减供信号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41848" y="3346704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来源：农业农村部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685032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3758184"/>
            <a:ext cx="54864" cy="100584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3776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977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滞后指标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" y="4197096"/>
            <a:ext cx="1234440" cy="201168"/>
          </a:xfrm>
          <a:prstGeom prst="roundRect">
            <a:avLst>
              <a:gd name="adj" fmla="val 27273"/>
            </a:avLst>
          </a:prstGeom>
          <a:solidFill>
            <a:srgbClr val="0D7680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419709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确认周期位置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920240" y="3776472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3831336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猪粮比价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29968" y="4087368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低于6:1亏损预警，低于5:1一级预警（全行业严重亏损）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29968" y="4517136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来源：发改委 周度发布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32120" y="3776472"/>
            <a:ext cx="3383280" cy="950976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1848" y="3831336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头均养殖利润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41848" y="4087368"/>
            <a:ext cx="3163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自繁自养亏损深度，直接衡量去产能压力大小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41848" y="4517136"/>
            <a:ext cx="3163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来源：涌益咨询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7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历史复盘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六轮猪周期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外生冲击年年有，但底层时钟从未停转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A454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历史复盘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六轮猪周期，每一轮都有它的故事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35608"/>
            <a:ext cx="54864" cy="411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2646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第1轮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2002—2006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63040" y="1426464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SARS压制需求 + 禽流感替代效应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44475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4447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~17元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360920" y="144475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4447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~10元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020824"/>
            <a:ext cx="54864" cy="41148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01168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2128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2006—2010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201168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蓝耳病重创产能，政府首次大规模补贴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029968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299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~15元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60920" y="2029968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0299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~9元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505456"/>
            <a:ext cx="841248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606040"/>
            <a:ext cx="54864" cy="41148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5968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第3轮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" y="279806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2010—2014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63040" y="259689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经典内生周期，补栏过度→产能过剩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615184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0F54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61518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~20元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360920" y="2615184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61518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~12元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090672"/>
            <a:ext cx="841248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191256"/>
            <a:ext cx="54864" cy="41148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1821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第4轮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33832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2014—2018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463040" y="318211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环保限产 + 规模化改造，散户大量退出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3200400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0F54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20040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~21元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60920" y="3200400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20040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~10元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3675888"/>
            <a:ext cx="841248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" y="3694176"/>
            <a:ext cx="845820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3776472"/>
            <a:ext cx="54864" cy="41148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76732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" y="396849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2018—2022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463040" y="376732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非洲猪瘟：产能骤降46%，历史最剧烈波动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3785616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37856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~41元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360920" y="3785616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7856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~13元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65760" y="4261104"/>
            <a:ext cx="8412480" cy="9144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52" name="Shape 50"/>
          <p:cNvSpPr/>
          <p:nvPr/>
        </p:nvSpPr>
        <p:spPr>
          <a:xfrm>
            <a:off x="365760" y="4361688"/>
            <a:ext cx="54864" cy="411480"/>
          </a:xfrm>
          <a:prstGeom prst="rect">
            <a:avLst/>
          </a:prstGeom>
          <a:solidFill>
            <a:srgbClr val="4A4540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" y="43525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第6轮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0352" y="455371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2022—？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463040" y="4352544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非瘟后产能恢复过度，规模化巨头拒绝退出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437083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4A45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43708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 ~20元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60920" y="4370832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0E8E0"/>
          </a:solidFill>
          <a:ln w="12700">
            <a:solidFill>
              <a:srgbClr val="D0C4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60920" y="43708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 ~9.5元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1792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单位：元/公斤（生猪出场价）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历史复盘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第五轮：非洲猪瘟——史上最剧烈的一次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423160" cy="11887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423160" cy="54864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2704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75488" y="2112264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2017→2019年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能繁母猪存栏降幅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2423160" cy="11887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417320"/>
            <a:ext cx="2423160" cy="54864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152704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41元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081528" y="2112264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生猪出场价峰值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（2020年，/公斤）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2423160" cy="11887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2423160" cy="54864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89864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5488" y="3483864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2019年9月存栏历史谷底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2788920"/>
            <a:ext cx="2423160" cy="11887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2788920"/>
            <a:ext cx="2423160" cy="54864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20" name="Text 18"/>
          <p:cNvSpPr/>
          <p:nvPr/>
        </p:nvSpPr>
        <p:spPr>
          <a:xfrm>
            <a:off x="3081528" y="289864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+139%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081528" y="3483864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2019→2021年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产能恢复幅度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1417320"/>
            <a:ext cx="3337560" cy="30175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508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为什么非瘟如此特殊？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1828800"/>
            <a:ext cx="3063240" cy="18288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1938528"/>
            <a:ext cx="146304" cy="146304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1901952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非洲猪瘟病死率接近100%，无有效疫苗，只能扑杀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0" y="2542032"/>
            <a:ext cx="146304" cy="146304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2505456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产能断崖式下降，不是缓慢去化，而是"瞬间蒸发"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3145536"/>
            <a:ext cx="146304" cy="146304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10896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供给冲击极端，叠加政策鼓励大规模补栏，造成之后产能过度恢复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3749040"/>
            <a:ext cx="146304" cy="146304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371246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正是这次超级周期留下的庞大产能，是当前第六轮磨底漫长的历史根源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76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4E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此轮新特征</a:t>
            </a:r>
            <a:endParaRPr lang="en-US" sz="4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历史规律为何失效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3200400" cy="36576"/>
          </a:xfrm>
          <a:prstGeom prst="rect">
            <a:avLst/>
          </a:prstGeom>
          <a:solidFill>
            <a:srgbClr val="A8E8E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221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三个结构性变量，让这次周期前所未有地漫长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84E5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新特征 · 变量一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行业集中度革命：大企业为何不退出？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30175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840480" cy="29260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过去：散户主导时代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亏损3-6个月 → 养殖户资金耗尽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3566160" cy="9144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225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被迫淘汰母猪、关门退出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3566160" cy="9144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346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产能自然出清，市场恢复均衡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3566160" cy="9144"/>
          </a:xfrm>
          <a:prstGeom prst="rect">
            <a:avLst/>
          </a:prstGeom>
          <a:solidFill>
            <a:srgbClr val="E0D0C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467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整个出清过程：约1-2年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1417320"/>
            <a:ext cx="3840480" cy="3017520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417320"/>
            <a:ext cx="3840480" cy="292608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现在：巨头主导时代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亏损6-12个月 → 大企业仍可借款死扛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2231136"/>
            <a:ext cx="3566160" cy="9144"/>
          </a:xfrm>
          <a:prstGeom prst="rect">
            <a:avLst/>
          </a:prstGeom>
          <a:solidFill>
            <a:srgbClr val="F0C0C5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3225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低成本优势（牧原12元/公斤）支撑续存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743200"/>
            <a:ext cx="3566160" cy="9144"/>
          </a:xfrm>
          <a:prstGeom prst="rect">
            <a:avLst/>
          </a:prstGeom>
          <a:solidFill>
            <a:srgbClr val="F0C0C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8346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甚至逆势扩张，抢占退出者份额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4920" y="3255264"/>
            <a:ext cx="3566160" cy="9144"/>
          </a:xfrm>
          <a:prstGeom prst="rect">
            <a:avLst/>
          </a:prstGeom>
          <a:solidFill>
            <a:srgbClr val="F0C0C5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3467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结果：产能长期不能出清，磨底期被拉长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2514600"/>
            <a:ext cx="640080" cy="640080"/>
          </a:xfrm>
          <a:prstGeom prst="ellipse">
            <a:avLst/>
          </a:prstGeom>
          <a:solidFill>
            <a:srgbClr val="33302E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2025年：TOP10猪企出栏量占全国41%；牧原一家出栏7,798万头，占全国11%  |  来源：猪场动力网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新特征 · 变量二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PSY革命：能繁不增，供给反而创历史新高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5262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PSY：每头母猪每年提供的断奶仔猪数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14800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反常的事实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73736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2025年：能繁母猪存栏量减少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但猪肉产量 5,938 万吨 → 创历史新高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全年生猪出栏 71,973 万头，同比 +2.4%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651760"/>
            <a:ext cx="4114800" cy="178308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715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为什么会这样？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3035808"/>
            <a:ext cx="128016" cy="128016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4" name="Text 11"/>
          <p:cNvSpPr/>
          <p:nvPr/>
        </p:nvSpPr>
        <p:spPr>
          <a:xfrm>
            <a:off x="5010912" y="2990088"/>
            <a:ext cx="3630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育种技术进步：PSY从17.38→24.34，提升约40%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3465576"/>
            <a:ext cx="128016" cy="128016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6" name="Text 13"/>
          <p:cNvSpPr/>
          <p:nvPr/>
        </p:nvSpPr>
        <p:spPr>
          <a:xfrm>
            <a:off x="5010912" y="3419856"/>
            <a:ext cx="3630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折损率下降：每批仔猪存活率大幅提升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3895344"/>
            <a:ext cx="128016" cy="128016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18" name="Text 15"/>
          <p:cNvSpPr/>
          <p:nvPr/>
        </p:nvSpPr>
        <p:spPr>
          <a:xfrm>
            <a:off x="5010912" y="3849624"/>
            <a:ext cx="3630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智能化养殖：精准饲喂，育肥效率改善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507992"/>
            <a:ext cx="4114800" cy="45720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结论：以前用来判断周期的那把尺子，刻度已经变了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新特征 · 变量三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需求天花板：猪肉消费正在见顶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猪肉占肉类消费比重（%）  |  来源：朱增勇（2023）等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0" y="1371600"/>
            <a:ext cx="333756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371600"/>
            <a:ext cx="320040" cy="96012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137160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88736" y="14447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替代效应持续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88736" y="170078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牛羊鱼禽消费持续增长，饮食结构多元化。猪肉需求占比已从2018年的62.1%降至57.9%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2450592"/>
            <a:ext cx="333756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2450592"/>
            <a:ext cx="320040" cy="96012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2450592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88736" y="252374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需求总量见顶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88736" y="27797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学界预测未来猪肉需求总量每年可能减少50-100万吨，到2030年占比或降至50%以下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0" y="3529584"/>
            <a:ext cx="333756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3529584"/>
            <a:ext cx="320040" cy="960120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3529584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88736" y="360273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供需双向压力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88736" y="38587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供给难以快速出清（变量一+二）+ 需求天花板下移，两力叠加令价格反弹更难、更慢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24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88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5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美国镜鉴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规模化之后，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周期去往何处？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3200400" cy="36576"/>
          </a:xfrm>
          <a:prstGeom prst="rect">
            <a:avLst/>
          </a:prstGeom>
          <a:solidFill>
            <a:srgbClr val="FFEE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E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中国正在走美国已经走过的路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A5A0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美国镜鉴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规模化不会消灭周期，只会让它变得更长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46304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4173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417320"/>
            <a:ext cx="1645920" cy="5303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9" name="Text 7"/>
          <p:cNvSpPr/>
          <p:nvPr/>
        </p:nvSpPr>
        <p:spPr>
          <a:xfrm>
            <a:off x="1929384" y="14173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中国（散户时代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2000-2018）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1645920" cy="5303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14173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美国（规模化前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1970-1990）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1417320"/>
            <a:ext cx="1645920" cy="5303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5312664" y="14173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美国（规模化后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1990-2020）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417320"/>
            <a:ext cx="1645920" cy="530352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04304" y="14173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中国（当前趋势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2020-？）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84248"/>
            <a:ext cx="1463040" cy="475488"/>
          </a:xfrm>
          <a:prstGeom prst="rect">
            <a:avLst/>
          </a:prstGeom>
          <a:solidFill>
            <a:srgbClr val="E8DDD5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984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周期时长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1984248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9384" y="1984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1984248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1024" y="1984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57800" y="1984248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1984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7-11 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1984248"/>
            <a:ext cx="1645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1984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预计拉长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496312"/>
            <a:ext cx="1463040" cy="475488"/>
          </a:xfrm>
          <a:prstGeom prst="rect">
            <a:avLst/>
          </a:prstGeom>
          <a:solidFill>
            <a:srgbClr val="E8DDD5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4963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价格振幅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74520" y="2496312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9384" y="24963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50-80%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66160" y="2496312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24963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40-60%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57800" y="2496312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12664" y="24963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70-131%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2496312"/>
            <a:ext cx="1645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24963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待观察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008376"/>
            <a:ext cx="1463040" cy="475488"/>
          </a:xfrm>
          <a:prstGeom prst="rect">
            <a:avLst/>
          </a:prstGeom>
          <a:solidFill>
            <a:srgbClr val="E8DDD5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0083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出清方式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74520" y="3008376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9384" y="30083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散户被动退出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66160" y="3008376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30083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散户被动退出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57800" y="3008376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12664" y="30083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大企业兼并重组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9440" y="3008376"/>
            <a:ext cx="1645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04304" y="30083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大企业死扛+并购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520440"/>
            <a:ext cx="1463040" cy="475488"/>
          </a:xfrm>
          <a:prstGeom prst="rect">
            <a:avLst/>
          </a:prstGeom>
          <a:solidFill>
            <a:srgbClr val="E8DDD5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520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去产能速度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74520" y="3520440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9384" y="35204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较快（1-2年）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566160" y="3520440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21024" y="35204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较快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57800" y="3520440"/>
            <a:ext cx="1645920" cy="475488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12664" y="35204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极慢（3-5年）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49440" y="3520440"/>
            <a:ext cx="1645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04304" y="35204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极慢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4032504"/>
            <a:ext cx="1463040" cy="475488"/>
          </a:xfrm>
          <a:prstGeom prst="rect">
            <a:avLst/>
          </a:prstGeom>
          <a:solidFill>
            <a:srgbClr val="E8DDD5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40325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周期可预测性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74520" y="4032504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9384" y="403250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相对规律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566160" y="4032504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21024" y="403250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相对规律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57800" y="4032504"/>
            <a:ext cx="1645920" cy="475488"/>
          </a:xfrm>
          <a:prstGeom prst="rect">
            <a:avLst/>
          </a:prstGeom>
          <a:solidFill>
            <a:srgbClr val="F8F0E8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12664" y="403250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更难预测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49440" y="4032504"/>
            <a:ext cx="1645920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04304" y="403250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更难预测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67" name="Text 65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学术研究（张立平等，2026）：美国规模化完成后，近5轮猪周期平均振幅90%，峰值达131%——规模化扩大了而非缩小了波动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69" name="Text 6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33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7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当前位置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与判断框架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200400" cy="36576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数据说话：我们现在在哪里？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A4540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当前位置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三层指标当前读数（截至2026年4月）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1051560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45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产能层 · 先行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40817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46304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能繁母猪存栏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168249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3,904万头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75688" y="19751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连续9个月环比下降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42232" y="195681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0D7680"/>
          </a:solidFill>
          <a:ln/>
        </p:spPr>
      </p:sp>
      <p:sp>
        <p:nvSpPr>
          <p:cNvPr id="13" name="Text 11"/>
          <p:cNvSpPr/>
          <p:nvPr/>
        </p:nvSpPr>
        <p:spPr>
          <a:xfrm>
            <a:off x="4142232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去化方向正确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0" y="140817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46304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新生仔猪数量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96128" y="168249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同比转负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96128" y="19751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17个月后首次出现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62672" y="195681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0D7680"/>
          </a:solidFill>
          <a:ln/>
        </p:spPr>
      </p:sp>
      <p:sp>
        <p:nvSpPr>
          <p:cNvPr id="19" name="Text 17"/>
          <p:cNvSpPr/>
          <p:nvPr/>
        </p:nvSpPr>
        <p:spPr>
          <a:xfrm>
            <a:off x="7662672" y="19568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减供信号出现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560320"/>
            <a:ext cx="54864" cy="10515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供应层 · 同步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65960" y="259689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265176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生猪出栏均重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75688" y="287121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128.5公斤/头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75688" y="31638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高于历史同期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42232" y="314553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4142232" y="31455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压栏仍存，供压未消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486400" y="259689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265176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4月预计出栏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96128" y="287121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略有增加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96128" y="31638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短时供给压力犹存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62672" y="314553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7662672" y="31455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淡季叠加供给过剩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3675888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023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价格/盈利层 · 滞后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65960" y="378561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75688" y="384048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生猪出场价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75688" y="405993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10.28元/公斤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075688" y="43525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8年来低位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42232" y="433425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990F3D"/>
          </a:solidFill>
          <a:ln/>
        </p:spPr>
      </p:sp>
      <p:sp>
        <p:nvSpPr>
          <p:cNvPr id="43" name="Text 41"/>
          <p:cNvSpPr/>
          <p:nvPr/>
        </p:nvSpPr>
        <p:spPr>
          <a:xfrm>
            <a:off x="4142232" y="4334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深度亏损区间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486400" y="3785616"/>
            <a:ext cx="3291840" cy="960120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840480"/>
            <a:ext cx="3072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猪粮比价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96128" y="405993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3.82:1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96128" y="43525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远低于5:1预警线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662672" y="4334256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990F3D"/>
          </a:solidFill>
          <a:ln/>
        </p:spPr>
      </p:sp>
      <p:sp>
        <p:nvSpPr>
          <p:cNvPr id="49" name="Text 47"/>
          <p:cNvSpPr/>
          <p:nvPr/>
        </p:nvSpPr>
        <p:spPr>
          <a:xfrm>
            <a:off x="7662672" y="4334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全行业严重亏损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判断框架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可证伪的观察框架：什么信号意味着什么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当前判断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供需磨底博弈末期 — 去产能方向正确，但因PSY提升与大企业死扛，出清速度远慢于历史。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国泰海通证券预测：2026年全年均价大概率难超12元/公斤，真正供需反转窗口或需等至2027年上半年。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1097280"/>
          </a:xfrm>
          <a:prstGeom prst="rect">
            <a:avLst/>
          </a:prstGeom>
          <a:solidFill>
            <a:srgbClr val="F0F8F6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周期即将反转的信号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109728" cy="10972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70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能繁母猪连续3个月以上超预期大幅环比下降（降幅加速）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09728" cy="10972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猪粮比持续低于4.5:1触发政策大规模强制去产能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617720" y="2715768"/>
            <a:ext cx="109728" cy="10972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670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新生仔猪数量同比降幅持续扩大（&gt;5%）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617720" y="3063240"/>
            <a:ext cx="109728" cy="109728"/>
          </a:xfrm>
          <a:prstGeom prst="ellipse">
            <a:avLst/>
          </a:prstGeom>
          <a:solidFill>
            <a:srgbClr val="0D768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0175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大型企业开始实质性减少能繁母猪存栏（非被动淘汰）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65760" y="3538728"/>
            <a:ext cx="841248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990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判断失效的信号（需重新评估）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109728" cy="109728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04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能繁母猪存栏止降回升（说明行业仍不肯退出）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02920" y="4297680"/>
            <a:ext cx="109728" cy="109728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519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PSY继续提升抵消存栏下降效果，出栏量不减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617720" y="3950208"/>
            <a:ext cx="109728" cy="109728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904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政策目标再次下调至3,650万头以下，市场解读为"可以继续扩"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617720" y="4297680"/>
            <a:ext cx="109728" cy="109728"/>
          </a:xfrm>
          <a:prstGeom prst="ellipse">
            <a:avLst/>
          </a:prstGeom>
          <a:solidFill>
            <a:srgbClr val="990F3D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2519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大企业宣布新一轮大规模扩建计划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8412480" cy="22860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猪周期的第一性原理与当前启示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57200" cy="530352"/>
          </a:xfrm>
          <a:prstGeom prst="rect">
            <a:avLst/>
          </a:prstGeom>
          <a:solidFill>
            <a:srgbClr val="990F3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" y="1417320"/>
            <a:ext cx="7936992" cy="530352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1732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猪周期的根本原因是生物时钟——14-18个月的不可压缩供给滞后，这是物理约束，不是市场失灵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093976"/>
            <a:ext cx="457200" cy="530352"/>
          </a:xfrm>
          <a:prstGeom prst="rect">
            <a:avLst/>
          </a:prstGeom>
          <a:solidFill>
            <a:srgbClr val="0F549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939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" y="2093976"/>
            <a:ext cx="7936992" cy="530352"/>
          </a:xfrm>
          <a:prstGeom prst="rect">
            <a:avLst/>
          </a:prstGeom>
          <a:solidFill>
            <a:srgbClr val="F8F2EC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09397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能繁母猪存栏量是最核心的先行指标，领先市场约10个月；追踪它，而不是每天盯着猪肉价格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770632"/>
            <a:ext cx="457200" cy="530352"/>
          </a:xfrm>
          <a:prstGeom prst="rect">
            <a:avLst/>
          </a:prstGeom>
          <a:solidFill>
            <a:srgbClr val="0D768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706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" y="2770632"/>
            <a:ext cx="7936992" cy="530352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77063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此轮周期前所未有地漫长：集中度革命+PSY提升+需求见顶，三重结构性变量同时重写了历史规律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319272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447288"/>
            <a:ext cx="457200" cy="5303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47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536" y="3447288"/>
            <a:ext cx="7936992" cy="530352"/>
          </a:xfrm>
          <a:prstGeom prst="rect">
            <a:avLst/>
          </a:prstGeom>
          <a:solidFill>
            <a:srgbClr val="F8F2EC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4472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美国经验证明：规模化完成后，周期会拉长至7-11年，振幅不降反升——中国正走在这条路上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8412480" cy="10973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4123944"/>
            <a:ext cx="457200" cy="530352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1239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9536" y="4123944"/>
            <a:ext cx="7936992" cy="530352"/>
          </a:xfrm>
          <a:prstGeom prst="rect">
            <a:avLst/>
          </a:prstGeom>
          <a:solidFill>
            <a:srgbClr val="F0E8E0"/>
          </a:solidFill>
          <a:ln w="12700">
            <a:solidFill>
              <a:srgbClr val="E0D0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123944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当前处于磨底末期：去产能方向正确，但真正反转窗口最早在2027年上半年。猪周期不会消失，只会变形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818888"/>
            <a:ext cx="8412480" cy="18288"/>
          </a:xfrm>
          <a:prstGeom prst="rect">
            <a:avLst/>
          </a:prstGeom>
          <a:solidFill>
            <a:srgbClr val="33302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数据来源：农业农村部 · 国家统计局 · 国金证券 · 张立平等（2026）· 朱增勇（2023）· 田志敏等（2023）· 《巨潮》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F549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猪肉价格的秘密</dc:title>
  <dc:subject>中国猪周期研究</dc:subject>
  <dc:creator>Research</dc:creator>
  <cp:lastModifiedBy>Research</cp:lastModifiedBy>
  <cp:revision>1</cp:revision>
  <dcterms:created xsi:type="dcterms:W3CDTF">2026-04-29T01:46:00Z</dcterms:created>
  <dcterms:modified xsi:type="dcterms:W3CDTF">2026-04-29T01:46:00Z</dcterms:modified>
</cp:coreProperties>
</file>